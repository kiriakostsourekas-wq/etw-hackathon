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27383013a9541b2" /><Relationship Type="http://schemas.openxmlformats.org/officeDocument/2006/relationships/extended-properties" Target="/docProps/app.xml" Id="R25018c2edc4f4a09" /><Relationship Type="http://schemas.openxmlformats.org/officeDocument/2006/relationships/officeDocument" Target="/ppt/presentation.xml" Id="Rdbe8c62100104ce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d10829bf2ff4936"/>
  </p:sldMasterIdLst>
  <p:notesMasterIdLst>
    <p:notesMasterId xmlns:r="http://schemas.openxmlformats.org/officeDocument/2006/relationships" r:id="R40434dedbfaf4f61"/>
  </p:notesMasterIdLst>
  <p:sldIdLst>
    <p:sldId xmlns:r="http://schemas.openxmlformats.org/officeDocument/2006/relationships" id="256" r:id="R5dea3a98ba9f4cd7"/>
    <p:sldId xmlns:r="http://schemas.openxmlformats.org/officeDocument/2006/relationships" id="257" r:id="R0b3f0b58c33541cf"/>
    <p:sldId xmlns:r="http://schemas.openxmlformats.org/officeDocument/2006/relationships" id="258" r:id="R6061f777180a4617"/>
    <p:sldId xmlns:r="http://schemas.openxmlformats.org/officeDocument/2006/relationships" id="259" r:id="Rba5019a51bb24e72"/>
    <p:sldId xmlns:r="http://schemas.openxmlformats.org/officeDocument/2006/relationships" id="260" r:id="Rc68db17726d5403e"/>
    <p:sldId xmlns:r="http://schemas.openxmlformats.org/officeDocument/2006/relationships" id="261" r:id="Rc3c9c1693adc4299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10829bf2ff4936" /><Relationship Type="http://schemas.openxmlformats.org/officeDocument/2006/relationships/theme" Target="/ppt/theme/theme1.xml" Id="R5ad339d2943d4a1c" /><Relationship Type="http://schemas.openxmlformats.org/officeDocument/2006/relationships/notesMaster" Target="/ppt/notesMasters/notesMaster1.xml" Id="R40434dedbfaf4f61" /><Relationship Type="http://schemas.openxmlformats.org/officeDocument/2006/relationships/presProps" Target="/ppt/presProps.xml" Id="Rb7c78c4747a84a61" /><Relationship Type="http://schemas.openxmlformats.org/officeDocument/2006/relationships/viewProps" Target="/ppt/viewProps.xml" Id="R7aef5a8b69bd4140" /><Relationship Type="http://schemas.openxmlformats.org/officeDocument/2006/relationships/tableStyles" Target="/ppt/tableStyles.xml" Id="Re8097714b1b64233" /><Relationship Type="http://schemas.openxmlformats.org/officeDocument/2006/relationships/slide" Target="/ppt/slides/slide1.xml" Id="R5dea3a98ba9f4cd7" /><Relationship Type="http://schemas.openxmlformats.org/officeDocument/2006/relationships/slide" Target="/ppt/slides/slide2.xml" Id="R0b3f0b58c33541cf" /><Relationship Type="http://schemas.openxmlformats.org/officeDocument/2006/relationships/slide" Target="/ppt/slides/slide3.xml" Id="R6061f777180a4617" /><Relationship Type="http://schemas.openxmlformats.org/officeDocument/2006/relationships/slide" Target="/ppt/slides/slide4.xml" Id="Rba5019a51bb24e72" /><Relationship Type="http://schemas.openxmlformats.org/officeDocument/2006/relationships/slide" Target="/ppt/slides/slide5.xml" Id="Rc68db17726d5403e" /><Relationship Type="http://schemas.openxmlformats.org/officeDocument/2006/relationships/slide" Target="/ppt/slides/slide6.xml" Id="Rc3c9c1693adc429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ccb0349ce505407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5a479f86b7746f7" /><Relationship Type="http://schemas.openxmlformats.org/officeDocument/2006/relationships/notesMaster" Target="/ppt/notesMasters/notesMaster1.xml" Id="R1cfe82bd86cd42a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f20e689498845a2" /><Relationship Type="http://schemas.openxmlformats.org/officeDocument/2006/relationships/notesMaster" Target="/ppt/notesMasters/notesMaster1.xml" Id="R2c931a7e87c447e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21446d5a0094ce8" /><Relationship Type="http://schemas.openxmlformats.org/officeDocument/2006/relationships/notesMaster" Target="/ppt/notesMasters/notesMaster1.xml" Id="R4ab94dc74b82461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af5dad5292c46e1" /><Relationship Type="http://schemas.openxmlformats.org/officeDocument/2006/relationships/notesMaster" Target="/ppt/notesMasters/notesMaster1.xml" Id="Rde425faea1334a8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b3218654cff4580" /><Relationship Type="http://schemas.openxmlformats.org/officeDocument/2006/relationships/notesMaster" Target="/ppt/notesMasters/notesMaster1.xml" Id="R6f03a70e14db4f5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ff776ffafd64c6c" /><Relationship Type="http://schemas.openxmlformats.org/officeDocument/2006/relationships/notesMaster" Target="/ppt/notesMasters/notesMaster1.xml" Id="R6f0304a6aa2042e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a3803a02974923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df673237c50a4c2f" /><Relationship Type="http://schemas.openxmlformats.org/officeDocument/2006/relationships/slideLayout" Target="/ppt/slideLayouts/slideLayout2.xml" Id="Re15d54d6975146d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15d54d6975146d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55ba89ca41c4ff6" /><Relationship Type="http://schemas.openxmlformats.org/officeDocument/2006/relationships/notesSlide" Target="/ppt/notesSlides/notesSlide1.xml" Id="Rd25b2e5926cb499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42310c9b3fe409d" /><Relationship Type="http://schemas.openxmlformats.org/officeDocument/2006/relationships/notesSlide" Target="/ppt/notesSlides/notesSlide2.xml" Id="R95e23f4c5a564e8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54bc36efd4a49fd" /><Relationship Type="http://schemas.openxmlformats.org/officeDocument/2006/relationships/notesSlide" Target="/ppt/notesSlides/notesSlide3.xml" Id="R4dd6ddd904674ab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5ee8157fea84687" /><Relationship Type="http://schemas.openxmlformats.org/officeDocument/2006/relationships/chart" Target="/ppt/slides/charts/chart1.xml" Id="R34c147718eb84b1c" /><Relationship Type="http://schemas.openxmlformats.org/officeDocument/2006/relationships/notesSlide" Target="/ppt/notesSlides/notesSlide4.xml" Id="Rb5cdd00409c14e7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9787ba83b364047" /><Relationship Type="http://schemas.openxmlformats.org/officeDocument/2006/relationships/notesSlide" Target="/ppt/notesSlides/notesSlide5.xml" Id="Rf5bf7d83b16b44b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4f72d353f404896" /><Relationship Type="http://schemas.openxmlformats.org/officeDocument/2006/relationships/chart" Target="/ppt/slides/charts/chart2.xml" Id="Re87cf367945e4eb9" /><Relationship Type="http://schemas.openxmlformats.org/officeDocument/2006/relationships/notesSlide" Target="/ppt/notesSlides/notesSlide6.xml" Id="R526634930f464c55" /></Relationships>
</file>

<file path=ppt/slides/charts/chart1.xml><?xml version="1.0" encoding="utf-8"?>
<c:chartSpace xmlns:c="http://schemas.openxmlformats.org/drawingml/2006/chart">
  <c:lang val="en-US"/>
  <c:roundedCorners val="0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/>
              <a:t>Live-safe vs diagnostic feature split</a:t>
            </a:r>
          </a:p>
        </c:rich>
      </c:tx>
      <c:overlay val="0"/>
    </c:title>
    <c:autoTitleDeleted val="0"/>
    <c:plotArea>
      <c:layout/>
      <c:barChart>
        <c:barDir val="col"/>
        <c:varyColors val="0"/>
        <c:ser>
          <c:idx val="0"/>
          <c:order val="0"/>
          <c:tx>
            <c:v>Feature families</c:v>
          </c:tx>
          <c:cat>
            <c:strLit>
              <c:ptCount val="3"/>
              <c:pt idx="0">
                <c:v>Live-safe</c:v>
              </c:pt>
              <c:pt idx="1">
                <c:v>Diagnostic</c:v>
              </c:pt>
              <c:pt idx="2">
                <c:v>Fallback</c:v>
              </c:pt>
            </c:strLit>
          </c:cat>
          <c:val>
            <c:numLit>
              <c:formatCode/>
              <c:ptCount val="3"/>
              <c:pt idx="0">
                <c:v>6</c:v>
              </c:pt>
              <c:pt idx="1">
                <c:v>4</c:v>
              </c:pt>
              <c:pt idx="2">
                <c:v>1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</c:chart>
</c:chartSpace>
</file>

<file path=ppt/slides/charts/chart2.xml><?xml version="1.0" encoding="utf-8"?>
<c:chartSpace xmlns:c="http://schemas.openxmlformats.org/drawingml/2006/chart">
  <c:lang val="en-US"/>
  <c:roundedCorners val="0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/>
              <a:t>Illustrative value framing</a:t>
            </a:r>
          </a:p>
        </c:rich>
      </c:tx>
      <c:overlay val="0"/>
    </c:title>
    <c:autoTitleDeleted val="0"/>
    <c:plotArea>
      <c:layout/>
      <c:barChart>
        <c:barDir val="col"/>
        <c:varyColors val="0"/>
        <c:ser>
          <c:idx val="0"/>
          <c:order val="0"/>
          <c:tx>
            <c:v>Relative net value</c:v>
          </c:tx>
          <c:cat>
            <c:strLit>
              <c:ptCount val="4"/>
              <c:pt idx="0">
                <c:v>Price-taker</c:v>
              </c:pt>
              <c:pt idx="1">
                <c:v>Low impact</c:v>
              </c:pt>
              <c:pt idx="2">
                <c:v>Medium impact</c:v>
              </c:pt>
              <c:pt idx="3">
                <c:v>High impact</c:v>
              </c:pt>
            </c:strLit>
          </c:cat>
          <c:val>
            <c:numLit>
              <c:formatCode/>
              <c:ptCount val="4"/>
              <c:pt idx="0">
                <c:v>100</c:v>
              </c:pt>
              <c:pt idx="1">
                <c:v>93</c:v>
              </c:pt>
              <c:pt idx="2">
                <c:v>86</c:v>
              </c:pt>
              <c:pt idx="3">
                <c:v>76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6D4AAA9C-C340-4BDD-927A-EFCF92315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</p:spPr>
      </p:sp>
      <p:sp>
        <p:nvSpPr>
          <p:cNvPr id="2" name="market-band">
            <a:extLst xmlns:a="http://schemas.openxmlformats.org/drawingml/2006/main">
              <a:ext uri="{FF2B5EF4-FFF2-40B4-BE49-F238E27FC236}">
                <a16:creationId xmlns:a16="http://schemas.microsoft.com/office/drawing/2014/main" id="{B77B714A-CA10-427D-9F1A-07255BBDB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</p:spPr>
      </p:sp>
      <p:sp>
        <p:nvSpPr>
          <p:cNvPr id="3" name="charge-line">
            <a:extLst xmlns:a="http://schemas.openxmlformats.org/drawingml/2006/main">
              <a:ext uri="{FF2B5EF4-FFF2-40B4-BE49-F238E27FC236}">
                <a16:creationId xmlns:a16="http://schemas.microsoft.com/office/drawing/2014/main" id="{116EB4A0-56CF-4E18-BF73-39DC48E5A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4" name="discharge-line">
            <a:extLst xmlns:a="http://schemas.openxmlformats.org/drawingml/2006/main">
              <a:ext uri="{FF2B5EF4-FFF2-40B4-BE49-F238E27FC236}">
                <a16:creationId xmlns:a16="http://schemas.microsoft.com/office/drawing/2014/main" id="{833BA974-96DD-4A9E-8E13-43E10739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</p:spPr>
      </p:sp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F4BEF2B6-E091-4959-9E45-4BE51CA9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85800"/>
            <a:ext cx="16535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METLEN-SCALE BESS SIMULATOR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056922B-4B7A-4631-A57B-74AD97774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028700"/>
            <a:ext cx="10953750" cy="1657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0F172A"/>
                </a:solidFill>
              </a:defRPr>
            </a:pPr>
            <a:r>
              <a:rPr sz="5400" b="1">
                <a:solidFill>
                  <a:srgbClr val="0F172A"/>
                </a:solidFill>
              </a:rPr>
              <a:t>From scarce telemetry to feasible battery dispatch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9210694-7581-4DC6-9783-50C6EDCB9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67000"/>
            <a:ext cx="95821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475569"/>
                </a:solidFill>
              </a:defRPr>
            </a:pPr>
            <a:r>
              <a:rPr sz="2100">
                <a:solidFill>
                  <a:srgbClr val="475569"/>
                </a:solidFill>
              </a:rPr>
              <a:t>A submission-ready Greek DAM demo: public data in, constraint-aware dispatch out, with a storage-aware regime-shift caveat.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AEFE23-E3B4-4BEC-896A-DC2F28CAC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3780"/>
            <a:ext cx="957739" cy="34671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6FF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EEA365-7714-4068-9A52-42DEE2C60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57600"/>
            <a:ext cx="609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563EB"/>
                </a:solidFill>
              </a:defRPr>
            </a:pPr>
            <a:r>
              <a:rPr sz="1275" b="1">
                <a:solidFill>
                  <a:srgbClr val="2563EB"/>
                </a:solidFill>
              </a:rPr>
              <a:t>330 MW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81F92E-2C2E-4393-BC92-C571CB6C7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7389" y="3573780"/>
            <a:ext cx="1053751" cy="34671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6FF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177D0D-3F8B-4211-A720-08C59CA25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657600"/>
            <a:ext cx="704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59669"/>
                </a:solidFill>
              </a:defRPr>
            </a:pPr>
            <a:r>
              <a:rPr sz="1275" b="1">
                <a:solidFill>
                  <a:srgbClr val="059669"/>
                </a:solidFill>
              </a:rPr>
              <a:t>790 MWh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1D8882-77C3-49BA-8B3D-B91E7DAA5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489" y="3573780"/>
            <a:ext cx="1542002" cy="5410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6FF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E35AD7-35EB-4A12-8ECD-4442C7C39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57600"/>
            <a:ext cx="12001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97316"/>
                </a:solidFill>
              </a:defRPr>
            </a:pPr>
            <a:r>
              <a:rPr sz="1275" b="1">
                <a:solidFill>
                  <a:srgbClr val="F97316"/>
                </a:solidFill>
              </a:rPr>
              <a:t>15-minute DAM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60E614-91C7-458D-989A-EE5131559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2667000"/>
            <a:ext cx="63436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2563EB"/>
                </a:solidFill>
              </a:defRPr>
            </a:pPr>
            <a:r>
              <a:rPr sz="3750" b="1">
                <a:solidFill>
                  <a:srgbClr val="2563EB"/>
                </a:solidFill>
              </a:rPr>
              <a:t>2.39h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419029-9DF9-4135-9293-34ADCBBE6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314700"/>
            <a:ext cx="6343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4748B"/>
                </a:solidFill>
              </a:defRPr>
            </a:pPr>
            <a:r>
              <a:rPr sz="1350">
                <a:solidFill>
                  <a:srgbClr val="64748B"/>
                </a:solidFill>
              </a:rPr>
              <a:t>METLEN nameplate duration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CA29AF-074B-4361-9E77-97E194F6F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714750"/>
            <a:ext cx="63436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059669"/>
                </a:solidFill>
              </a:defRPr>
            </a:pPr>
            <a:r>
              <a:rPr sz="3750" b="1">
                <a:solidFill>
                  <a:srgbClr val="059669"/>
                </a:solidFill>
              </a:rPr>
              <a:t>10-90%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9BFADB-86E7-4802-BDB8-11BBF59D9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362450"/>
            <a:ext cx="6343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4748B"/>
                </a:solidFill>
              </a:defRPr>
            </a:pPr>
            <a:r>
              <a:rPr sz="1350">
                <a:solidFill>
                  <a:srgbClr val="64748B"/>
                </a:solidFill>
              </a:rPr>
              <a:t>SoC modeling convention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2583C4-DFE1-4679-8C76-C9F87C3C7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762500"/>
            <a:ext cx="63436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97316"/>
                </a:solidFill>
              </a:defRPr>
            </a:pPr>
            <a:r>
              <a:rPr sz="3750" b="1">
                <a:solidFill>
                  <a:srgbClr val="F97316"/>
                </a:solidFill>
              </a:rPr>
              <a:t>85% / 90%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67CD1D-714E-446B-8DF6-665A10846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5410200"/>
            <a:ext cx="6343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4748B"/>
                </a:solidFill>
              </a:defRPr>
            </a:pPr>
            <a:r>
              <a:rPr sz="1350">
                <a:solidFill>
                  <a:srgbClr val="64748B"/>
                </a:solidFill>
              </a:rPr>
              <a:t>RTE base and optimistic sensitivity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1CFAD6-E003-446E-BC87-22ADC98F9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391650"/>
            <a:ext cx="9505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4748B"/>
                </a:solidFill>
              </a:defRPr>
            </a:pPr>
            <a:r>
              <a:rPr sz="1350">
                <a:solidFill>
                  <a:srgbClr val="64748B"/>
                </a:solidFill>
              </a:rPr>
              <a:t>Team walkthrough deck | ETW Hackathon</a:t>
            </a:r>
          </a:p>
        </p:txBody>
      </p:sp>
    </p:spTree>
    <p:extLst>
      <p:ext uri="{BB962C8B-B14F-4D97-AF65-F5344CB8AC3E}">
        <p14:creationId xmlns:p14="http://schemas.microsoft.com/office/powerpoint/2010/main" val="6855289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1717EFDC-3B3B-4A6A-9A91-D5A7D3AA4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47700"/>
            <a:ext cx="16687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GREEK PROBLEM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A641E71-6C2F-41A8-9C41-5952CB40B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71550"/>
            <a:ext cx="1668780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F172A"/>
                </a:solidFill>
              </a:defRPr>
            </a:pPr>
            <a:r>
              <a:rPr sz="4350" b="1">
                <a:solidFill>
                  <a:srgbClr val="0F172A"/>
                </a:solidFill>
              </a:rPr>
              <a:t>The hard part is not scheduling a battery. It is scheduling without Greek battery history.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1FC246F-94A6-4B4C-826D-922E74D0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19350"/>
            <a:ext cx="119634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475569"/>
                </a:solidFill>
              </a:defRPr>
            </a:pPr>
            <a:r>
              <a:rPr sz="2100">
                <a:solidFill>
                  <a:srgbClr val="475569"/>
                </a:solidFill>
              </a:rPr>
              <a:t>Standalone BESS is entering the Greek market, but mature telemetry and observed bidding behavior are not available yet.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7B506B-629A-4633-9786-F16027115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06140"/>
            <a:ext cx="5346700" cy="5661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4EA2EC-5D34-4CFE-A6D1-DD8061E3D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33800"/>
            <a:ext cx="47053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DC2626"/>
                </a:solidFill>
              </a:defRPr>
            </a:pPr>
            <a:r>
              <a:rPr sz="3750" b="1">
                <a:solidFill>
                  <a:srgbClr val="DC2626"/>
                </a:solidFill>
              </a:rPr>
              <a:t>No mature telemetry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684211-D455-4371-A2C9-09398098C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81500"/>
            <a:ext cx="47053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4748B"/>
                </a:solidFill>
              </a:defRPr>
            </a:pPr>
            <a:r>
              <a:rPr sz="1350">
                <a:solidFill>
                  <a:srgbClr val="64748B"/>
                </a:solidFill>
              </a:rPr>
              <a:t>Greek standalone BESS behavior is not a stable training label yet.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F35BF9-BE40-46A2-B0AD-EEA26CAC2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0650" y="3406140"/>
            <a:ext cx="5346700" cy="5661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C59B32-C5C2-4A8C-B59F-D7B0C0E34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733800"/>
            <a:ext cx="47053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2563EB"/>
                </a:solidFill>
              </a:defRPr>
            </a:pPr>
            <a:r>
              <a:rPr sz="3750" b="1">
                <a:solidFill>
                  <a:srgbClr val="2563EB"/>
                </a:solidFill>
              </a:rPr>
              <a:t>Public signals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7A3740-35A9-46AE-A9F5-1014190E8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381500"/>
            <a:ext cx="47053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4748B"/>
                </a:solidFill>
              </a:defRPr>
            </a:pPr>
            <a:r>
              <a:rPr sz="1350">
                <a:solidFill>
                  <a:srgbClr val="64748B"/>
                </a:solidFill>
              </a:rPr>
              <a:t>HEnEx DAM, IPTO forecasts, and weather become the reproducible data backbone.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FF3424-3F78-4416-834A-5C17D1558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1200" y="3406140"/>
            <a:ext cx="5346700" cy="5661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2811B4-0FCA-48A2-A9ED-4224F1869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3733800"/>
            <a:ext cx="47053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059669"/>
                </a:solidFill>
              </a:defRPr>
            </a:pPr>
            <a:r>
              <a:rPr sz="3750" b="1">
                <a:solidFill>
                  <a:srgbClr val="059669"/>
                </a:solidFill>
              </a:rPr>
              <a:t>Hard constraints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C35550-E0AF-40FB-977D-80BD7D693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4381500"/>
            <a:ext cx="47053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4748B"/>
                </a:solidFill>
              </a:defRPr>
            </a:pPr>
            <a:r>
              <a:rPr sz="1350">
                <a:solidFill>
                  <a:srgbClr val="64748B"/>
                </a:solidFill>
              </a:rPr>
              <a:t>The schedule must respect SoC, power, efficiency, terminal SoC, cycles, and degradation.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BA3B96-AC79-4217-955B-ECAD96ED1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410700"/>
            <a:ext cx="16687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4748B"/>
                </a:solidFill>
              </a:defRPr>
            </a:pPr>
            <a:r>
              <a:rPr sz="1500">
                <a:solidFill>
                  <a:srgbClr val="64748B"/>
                </a:solidFill>
              </a:rPr>
              <a:t>Submission stance: scenario analysis, not a claim of exact post-launch Greek prices.</a:t>
            </a:r>
          </a:p>
        </p:txBody>
      </p:sp>
    </p:spTree>
    <p:extLst>
      <p:ext uri="{BB962C8B-B14F-4D97-AF65-F5344CB8AC3E}">
        <p14:creationId xmlns:p14="http://schemas.microsoft.com/office/powerpoint/2010/main" val="180241434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33D6BC67-BDB6-4BA1-9424-F59F020D4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47700"/>
            <a:ext cx="16687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BATTERY OPERATIONS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070613D-8D8B-4090-B95E-9A5B62AAB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71550"/>
            <a:ext cx="1668780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F172A"/>
                </a:solidFill>
              </a:defRPr>
            </a:pPr>
            <a:r>
              <a:rPr sz="4350" b="1">
                <a:solidFill>
                  <a:srgbClr val="0F172A"/>
                </a:solidFill>
              </a:rPr>
              <a:t>The demo mirrors the operator loop, then marks the layers not yet modeled.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B15C6C-4B09-4834-B9A6-0BB0052B5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09850"/>
            <a:ext cx="32004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2563EB"/>
                </a:solidFill>
              </a:defRPr>
            </a:pPr>
            <a:r>
              <a:rPr sz="5400" b="1">
                <a:solidFill>
                  <a:srgbClr val="2563EB"/>
                </a:solidFill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CEBAE5-73C9-4EB3-B093-4D202ED17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81400"/>
            <a:ext cx="3200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49E9E5-C098-4C5B-A654-473575568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90950"/>
            <a:ext cx="32004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172A"/>
                </a:solidFill>
              </a:defRPr>
            </a:pPr>
            <a:r>
              <a:rPr sz="2100" b="1">
                <a:solidFill>
                  <a:srgbClr val="0F172A"/>
                </a:solidFill>
              </a:rPr>
              <a:t>Pre-market planning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39209B-D379-4644-BEAF-BA567D108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32004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75569"/>
                </a:solidFill>
              </a:defRPr>
            </a:pPr>
            <a:r>
              <a:rPr sz="1650">
                <a:solidFill>
                  <a:srgbClr val="475569"/>
                </a:solidFill>
              </a:rPr>
              <a:t>Build price, load, RES, weather, and constraint view.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EDABF0-0031-435D-916C-99ECC2E44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609850"/>
            <a:ext cx="32004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2563EB"/>
                </a:solidFill>
              </a:defRPr>
            </a:pPr>
            <a:r>
              <a:rPr sz="5400" b="1">
                <a:solidFill>
                  <a:srgbClr val="2563EB"/>
                </a:solidFill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263412-A93E-4433-94B4-2D4C2454A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581400"/>
            <a:ext cx="3200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47C298-B687-4D45-B8A8-595B325EF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790950"/>
            <a:ext cx="32004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172A"/>
                </a:solidFill>
              </a:defRPr>
            </a:pPr>
            <a:r>
              <a:rPr sz="2100" b="1">
                <a:solidFill>
                  <a:srgbClr val="0F172A"/>
                </a:solidFill>
              </a:rPr>
              <a:t>DAM optimization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060338-C9CE-4542-A9BE-F5E1701E3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267200"/>
            <a:ext cx="32004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75569"/>
                </a:solidFill>
              </a:defRPr>
            </a:pPr>
            <a:r>
              <a:rPr sz="1650">
                <a:solidFill>
                  <a:srgbClr val="475569"/>
                </a:solidFill>
              </a:rPr>
              <a:t>Choose charge, discharge, or idle across 96 quarter-hours.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926A6F-E0E2-4212-BBF1-D3794A3AF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609850"/>
            <a:ext cx="32004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64748B"/>
                </a:solidFill>
              </a:defRPr>
            </a:pPr>
            <a:r>
              <a:rPr sz="5400" b="1">
                <a:solidFill>
                  <a:srgbClr val="64748B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EA9371-593E-452E-990B-8090427E4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581400"/>
            <a:ext cx="3200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298111-710D-4755-BE2C-3EFC0F50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790950"/>
            <a:ext cx="32004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172A"/>
                </a:solidFill>
              </a:defRPr>
            </a:pPr>
            <a:r>
              <a:rPr sz="2100" b="1">
                <a:solidFill>
                  <a:srgbClr val="0F172A"/>
                </a:solidFill>
              </a:rPr>
              <a:t>Intraday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840DD7-F536-4615-8B64-DB50A3AD5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267200"/>
            <a:ext cx="32004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75569"/>
                </a:solidFill>
              </a:defRPr>
            </a:pPr>
            <a:r>
              <a:rPr sz="1650">
                <a:solidFill>
                  <a:srgbClr val="475569"/>
                </a:solidFill>
              </a:rPr>
              <a:t>Future layer for forecast errors and imbalance risk.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29891F-080C-43BB-96C6-7E39F00E1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2609850"/>
            <a:ext cx="32004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64748B"/>
                </a:solidFill>
              </a:defRPr>
            </a:pPr>
            <a:r>
              <a:rPr sz="5400" b="1">
                <a:solidFill>
                  <a:srgbClr val="64748B"/>
                </a:solidFill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1F2769-8426-45B8-9C01-193268DEB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3581400"/>
            <a:ext cx="3200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1EE014-8922-4C1D-A75B-949E829E8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3790950"/>
            <a:ext cx="32004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172A"/>
                </a:solidFill>
              </a:defRPr>
            </a:pPr>
            <a:r>
              <a:rPr sz="2100" b="1">
                <a:solidFill>
                  <a:srgbClr val="0F172A"/>
                </a:solidFill>
              </a:rPr>
              <a:t>Services headroom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6B56B8-A65B-4F66-9199-98B10BA02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267200"/>
            <a:ext cx="32004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75569"/>
                </a:solidFill>
              </a:defRPr>
            </a:pPr>
            <a:r>
              <a:rPr sz="1650">
                <a:solidFill>
                  <a:srgbClr val="475569"/>
                </a:solidFill>
              </a:rPr>
              <a:t>Future layer for reserve and balancing value stacking.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793236-C5B0-4EAE-AA1D-A7CA3C1EE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2609850"/>
            <a:ext cx="32004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2563EB"/>
                </a:solidFill>
              </a:defRPr>
            </a:pPr>
            <a:r>
              <a:rPr sz="5400" b="1">
                <a:solidFill>
                  <a:srgbClr val="2563EB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78F1AF-BC2E-40D8-8A6A-1A9CE3434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3581400"/>
            <a:ext cx="3200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C2F45B-A912-4E43-9233-923107295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3790950"/>
            <a:ext cx="32004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172A"/>
                </a:solidFill>
              </a:defRPr>
            </a:pPr>
            <a:r>
              <a:rPr sz="2100" b="1">
                <a:solidFill>
                  <a:srgbClr val="0F172A"/>
                </a:solidFill>
              </a:rPr>
              <a:t>Settlement review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9C313F-AFE0-490D-AB5C-697A0FB06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4267200"/>
            <a:ext cx="32004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75569"/>
                </a:solidFill>
              </a:defRPr>
            </a:pPr>
            <a:r>
              <a:rPr sz="1650">
                <a:solidFill>
                  <a:srgbClr val="475569"/>
                </a:solidFill>
              </a:rPr>
              <a:t>Revenue, degradation, throughput, cycles, and spread captured.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A8C738-4075-4E16-B2BB-3BD8701FC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410700"/>
            <a:ext cx="16687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4748B"/>
                </a:solidFill>
              </a:defRPr>
            </a:pPr>
            <a:r>
              <a:rPr sz="1500">
                <a:solidFill>
                  <a:srgbClr val="64748B"/>
                </a:solidFill>
              </a:rPr>
              <a:t>Implemented now: pre-market data frame, DAM optimization, and settlement review. Next: intraday, balancing, ancillary services, thermal derating.</a:t>
            </a:r>
          </a:p>
        </p:txBody>
      </p:sp>
    </p:spTree>
    <p:extLst>
      <p:ext uri="{BB962C8B-B14F-4D97-AF65-F5344CB8AC3E}">
        <p14:creationId xmlns:p14="http://schemas.microsoft.com/office/powerpoint/2010/main" val="41253195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4AC65AA5-E66D-4E45-B239-62920C12E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47700"/>
            <a:ext cx="16687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DATA STACK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649D52D-C474-4273-94BE-49F4ADA52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71550"/>
            <a:ext cx="1668780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F172A"/>
                </a:solidFill>
              </a:defRPr>
            </a:pPr>
            <a:r>
              <a:rPr sz="4350" b="1">
                <a:solidFill>
                  <a:srgbClr val="0F172A"/>
                </a:solidFill>
              </a:rPr>
              <a:t>Everything in the demo is traceable to public inputs or explicit assumptions.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3DA110-1A24-49FB-BC6D-154EE8CCB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52700"/>
            <a:ext cx="7277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2563EB"/>
                </a:solidFill>
              </a:defRPr>
            </a:pPr>
            <a:r>
              <a:rPr sz="3750" b="1">
                <a:solidFill>
                  <a:srgbClr val="2563EB"/>
                </a:solidFill>
              </a:rPr>
              <a:t>HEnEx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4058EE-FA44-4AA2-B5F5-CD8CE0BB7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00400"/>
            <a:ext cx="7277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4748B"/>
                </a:solidFill>
              </a:defRPr>
            </a:pPr>
            <a:r>
              <a:rPr sz="1350">
                <a:solidFill>
                  <a:srgbClr val="64748B"/>
                </a:solidFill>
              </a:rPr>
              <a:t>15-minute DAM MCP prices and future aggregated curves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18CB9D-C8A0-4C3B-A471-EF12A307D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38550"/>
            <a:ext cx="7277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059669"/>
                </a:solidFill>
              </a:defRPr>
            </a:pPr>
            <a:r>
              <a:rPr sz="3750" b="1">
                <a:solidFill>
                  <a:srgbClr val="059669"/>
                </a:solidFill>
              </a:rPr>
              <a:t>IPTO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DBBFD8-CEE7-43FC-8644-D6CBDA3DD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0"/>
            <a:ext cx="7277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4748B"/>
                </a:solidFill>
              </a:defRPr>
            </a:pPr>
            <a:r>
              <a:rPr sz="1350">
                <a:solidFill>
                  <a:srgbClr val="64748B"/>
                </a:solidFill>
              </a:rPr>
              <a:t>load and RES forecasts for market context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4568DB-679B-4E59-9DC4-26947E4D7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24400"/>
            <a:ext cx="7277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97316"/>
                </a:solidFill>
              </a:defRPr>
            </a:pPr>
            <a:r>
              <a:rPr sz="3750" b="1">
                <a:solidFill>
                  <a:srgbClr val="F97316"/>
                </a:solidFill>
              </a:rPr>
              <a:t>Open-Meteo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FA099C-75D9-407C-A3FB-8E852544E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72100"/>
            <a:ext cx="7277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4748B"/>
                </a:solidFill>
              </a:defRPr>
            </a:pPr>
            <a:r>
              <a:rPr sz="1350">
                <a:solidFill>
                  <a:srgbClr val="64748B"/>
                </a:solidFill>
              </a:rPr>
              <a:t>radiation, cloud, wind, and temperature features</a:t>
            </a:r>
          </a:p>
        </p:txBody>
      </p:sp>
      <p:graphicFrame>
        <p:nvGraphicFramePr>
          <p:cNvPr id="9" name="data-stack-chart"/>
          <p:cNvGraphicFramePr/>
          <p:nvPr/>
        </p:nvGraphicFramePr>
        <p:xfrm>
          <a:off xmlns:a="http://schemas.openxmlformats.org/drawingml/2006/main" x="8592503" y="2556510"/>
          <a:ext xmlns:a="http://schemas.openxmlformats.org/drawingml/2006/main" cx="8895398" cy="635889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4c147718eb84b1c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4BC0D4-0022-4546-ADF5-7DDB5BD18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182100"/>
            <a:ext cx="72771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4748B"/>
                </a:solidFill>
              </a:defRPr>
            </a:pPr>
            <a:r>
              <a:rPr sz="1500">
                <a:solidFill>
                  <a:srgbClr val="64748B"/>
                </a:solidFill>
              </a:rPr>
              <a:t>Leakage rule: post-clearing DAM prices, accepted volumes, and curve slopes are diagnostics unless timestamp checks prove they were available before the decision.</a:t>
            </a:r>
          </a:p>
        </p:txBody>
      </p:sp>
    </p:spTree>
    <p:extLst>
      <p:ext uri="{BB962C8B-B14F-4D97-AF65-F5344CB8AC3E}">
        <p14:creationId xmlns:p14="http://schemas.microsoft.com/office/powerpoint/2010/main" val="209318914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DC0FD010-2CD8-4616-9121-D79FA5EDA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47700"/>
            <a:ext cx="16687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SIMULATOR METHODOLOGY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CAEC945-6FC4-4AF9-BDBC-F8D0B8B7B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71550"/>
            <a:ext cx="166878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F172A"/>
                </a:solidFill>
              </a:defRPr>
            </a:pPr>
            <a:r>
              <a:rPr sz="4350" b="1">
                <a:solidFill>
                  <a:srgbClr val="0F172A"/>
                </a:solidFill>
              </a:rPr>
              <a:t>MILP first; market-impact scenario second.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ED5A769-90B7-46EA-973B-3839CA59C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52600"/>
            <a:ext cx="114681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475569"/>
                </a:solidFill>
              </a:defRPr>
            </a:pPr>
            <a:r>
              <a:rPr sz="2100">
                <a:solidFill>
                  <a:srgbClr val="475569"/>
                </a:solidFill>
              </a:rPr>
              <a:t>The core optimizer remains price-taker and constraint-pure. The regime-shift layer is deliberately labeled as counterfactual sensitivity.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1D7006-D73F-4A57-859D-E59FEF359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24150"/>
            <a:ext cx="82010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F74409-A2D8-44AA-8F10-7BB9E5609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90850"/>
            <a:ext cx="76771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Decision variables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4F38B2-C5B7-4711-9BAC-B86E794EC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67100"/>
            <a:ext cx="76771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75569"/>
                </a:solidFill>
              </a:defRPr>
            </a:pPr>
            <a:r>
              <a:rPr sz="1650">
                <a:solidFill>
                  <a:srgbClr val="475569"/>
                </a:solidFill>
              </a:rPr>
              <a:t>charge MW, discharge MW, SoC, and binary mode guard for each 15-minute interval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4E25D2-2E10-4C5A-8403-0A3E3AA96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724150"/>
            <a:ext cx="82010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2672B4-3D63-4C41-97A6-6418D9358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990850"/>
            <a:ext cx="76771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Constraints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881986-B67B-4321-B0DD-9B537FD98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467100"/>
            <a:ext cx="76771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75569"/>
                </a:solidFill>
              </a:defRPr>
            </a:pPr>
            <a:r>
              <a:rPr sz="1650">
                <a:solidFill>
                  <a:srgbClr val="475569"/>
                </a:solidFill>
              </a:rPr>
              <a:t>power, energy, SoC band, terminal SoC, efficiency, degradation, cycle budget, no simultaneous charge/discharge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61ADE1-27B7-431A-836D-D0AE4669F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305550"/>
            <a:ext cx="82010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A23D13-AAEA-42FB-93FC-809F5D0C6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572250"/>
            <a:ext cx="76771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Objective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4225C7-C615-43C2-B201-E33A16C89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048500"/>
            <a:ext cx="76771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75569"/>
                </a:solidFill>
              </a:defRPr>
            </a:pPr>
            <a:r>
              <a:rPr sz="1650">
                <a:solidFill>
                  <a:srgbClr val="475569"/>
                </a:solidFill>
              </a:rPr>
              <a:t>maximize DAM arbitrage net of throughput/degradation cost under the selected price signal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8628EB-5FFD-4198-877B-F61DB460A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6305550"/>
            <a:ext cx="82010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DA9BCB-9D5C-47A5-AB1E-C55A49A66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6572250"/>
            <a:ext cx="76771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Regime shift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CA6BC2-7C21-4529-9D5D-E51B2F2D2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7048500"/>
            <a:ext cx="76771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75569"/>
                </a:solidFill>
              </a:defRPr>
            </a:pPr>
            <a:r>
              <a:rPr sz="1650">
                <a:solidFill>
                  <a:srgbClr val="475569"/>
                </a:solidFill>
              </a:rPr>
              <a:t>charge lifts trough prices, discharge suppresses peaks, larger fleets compress spreads</a:t>
            </a:r>
          </a:p>
        </p:txBody>
      </p:sp>
    </p:spTree>
    <p:extLst>
      <p:ext uri="{BB962C8B-B14F-4D97-AF65-F5344CB8AC3E}">
        <p14:creationId xmlns:p14="http://schemas.microsoft.com/office/powerpoint/2010/main" val="205069727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AC6FB840-6F7F-44FC-851A-B17FEEDB1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47700"/>
            <a:ext cx="16687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DEMO READOUT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1085EC7-1743-4077-B015-2299EC110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71550"/>
            <a:ext cx="166878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F172A"/>
                </a:solidFill>
              </a:defRPr>
            </a:pPr>
            <a:r>
              <a:rPr sz="4350" b="1">
                <a:solidFill>
                  <a:srgbClr val="0F172A"/>
                </a:solidFill>
              </a:rPr>
              <a:t>What the judges should see in two minutes.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0AA2A9-13B2-457C-9870-A16E497C9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05000"/>
            <a:ext cx="84963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2563EB"/>
                </a:solidFill>
              </a:defRPr>
            </a:pPr>
            <a:r>
              <a:rPr sz="3750" b="1">
                <a:solidFill>
                  <a:srgbClr val="2563EB"/>
                </a:solidFill>
              </a:rPr>
              <a:t>Feasible dispatch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BE6699-65F7-48B4-A1BE-381605E76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52700"/>
            <a:ext cx="8496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4748B"/>
                </a:solidFill>
              </a:defRPr>
            </a:pPr>
            <a:r>
              <a:rPr sz="1350">
                <a:solidFill>
                  <a:srgbClr val="64748B"/>
                </a:solidFill>
              </a:rPr>
              <a:t>Every schedule obeys the battery and terminal-SoC constraints.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87BA35-9DC6-4071-BF36-AEFB38617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09900"/>
            <a:ext cx="84963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059669"/>
                </a:solidFill>
              </a:defRPr>
            </a:pPr>
            <a:r>
              <a:rPr sz="3750" b="1">
                <a:solidFill>
                  <a:srgbClr val="059669"/>
                </a:solidFill>
              </a:rPr>
              <a:t>Sensitivity surface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097709-2176-4FA9-AD60-BC1A0535B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57600"/>
            <a:ext cx="8496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4748B"/>
                </a:solidFill>
              </a:defRPr>
            </a:pPr>
            <a:r>
              <a:rPr sz="1350">
                <a:solidFill>
                  <a:srgbClr val="64748B"/>
                </a:solidFill>
              </a:rPr>
              <a:t>Efficiency, cycles, and degradation are assumptions, not fixed facts.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567DFD-4792-479C-973C-AB376DEBF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14800"/>
            <a:ext cx="84963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DC2626"/>
                </a:solidFill>
              </a:defRPr>
            </a:pPr>
            <a:r>
              <a:rPr sz="3750" b="1">
                <a:solidFill>
                  <a:srgbClr val="DC2626"/>
                </a:solidFill>
              </a:rPr>
              <a:t>Revenue haircut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C1491D-0BA6-422D-8018-34A734C63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62500"/>
            <a:ext cx="8496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4748B"/>
                </a:solidFill>
              </a:defRPr>
            </a:pPr>
            <a:r>
              <a:rPr sz="1350">
                <a:solidFill>
                  <a:srgbClr val="64748B"/>
                </a:solidFill>
              </a:rPr>
              <a:t>Storage-aware scenarios show why pre-battery spreads may overstate value.</a:t>
            </a:r>
          </a:p>
        </p:txBody>
      </p:sp>
      <p:graphicFrame>
        <p:nvGraphicFramePr>
          <p:cNvPr id="9" name="demo-readout-chart"/>
          <p:cNvGraphicFramePr/>
          <p:nvPr/>
        </p:nvGraphicFramePr>
        <p:xfrm>
          <a:off xmlns:a="http://schemas.openxmlformats.org/drawingml/2006/main" x="9805511" y="1912620"/>
          <a:ext xmlns:a="http://schemas.openxmlformats.org/drawingml/2006/main" cx="7682389" cy="675513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87cf367945e4eb9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9942CC-9854-420A-9B1C-CC0F86D4D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953500"/>
            <a:ext cx="84963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4748B"/>
                </a:solidFill>
              </a:defRPr>
            </a:pPr>
            <a:r>
              <a:rPr sz="1500">
                <a:solidFill>
                  <a:srgbClr val="64748B"/>
                </a:solidFill>
              </a:rPr>
              <a:t>Evidence framing: Italy/Spain are closer market analogues; CAISO/NREL inform storage valuation; AEMO is operational evidence that renewables plus batteries can put downward pressure on wholesale prices.</a:t>
            </a:r>
          </a:p>
        </p:txBody>
      </p:sp>
    </p:spTree>
    <p:extLst>
      <p:ext uri="{BB962C8B-B14F-4D97-AF65-F5344CB8AC3E}">
        <p14:creationId xmlns:p14="http://schemas.microsoft.com/office/powerpoint/2010/main" val="13484269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2026-04-29T11:31:15.3620000Z</dcterms:created>
  <dcterms:modified xsi:type="dcterms:W3CDTF">2026-04-29T11:31:15.3620000Z</dcterms:modified>
</coreProperties>
</file>